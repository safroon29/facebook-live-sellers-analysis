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Reactions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6am</c:v>
                </c:pt>
                <c:pt idx="1">
                  <c:v>9am</c:v>
                </c:pt>
                <c:pt idx="2">
                  <c:v>12pm</c:v>
                </c:pt>
                <c:pt idx="3">
                  <c:v>3pm</c:v>
                </c:pt>
                <c:pt idx="4">
                  <c:v>6pm</c:v>
                </c:pt>
                <c:pt idx="5">
                  <c:v>9pm</c:v>
                </c:pt>
                <c:pt idx="6">
                  <c:v>12am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</c:v>
                </c:pt>
                <c:pt idx="1">
                  <c:v>140</c:v>
                </c:pt>
                <c:pt idx="2">
                  <c:v>210</c:v>
                </c:pt>
                <c:pt idx="3">
                  <c:v>260</c:v>
                </c:pt>
                <c:pt idx="4">
                  <c:v>410</c:v>
                </c:pt>
                <c:pt idx="5">
                  <c:v>505</c:v>
                </c:pt>
                <c:pt idx="6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58-49FA-AFD5-97DF01339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 (WCSS)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980</c:v>
                </c:pt>
                <c:pt idx="1">
                  <c:v>610</c:v>
                </c:pt>
                <c:pt idx="2">
                  <c:v>380</c:v>
                </c:pt>
                <c:pt idx="3">
                  <c:v>240</c:v>
                </c:pt>
                <c:pt idx="4">
                  <c:v>205</c:v>
                </c:pt>
                <c:pt idx="5">
                  <c:v>180</c:v>
                </c:pt>
                <c:pt idx="6">
                  <c:v>162</c:v>
                </c:pt>
                <c:pt idx="7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71-452D-8626-9AF0CA6519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5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B6B75"/>
                    </a:solidFill>
                    <a:latin typeface="Arial"/>
                  </a:rPr>
                  <a:t>Number of Clusters (k)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5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B6B75"/>
                    </a:solidFill>
                    <a:latin typeface="Arial"/>
                  </a:rPr>
                  <a:t>WCSS (Inertia)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Reactions</c:v>
                </c:pt>
              </c:strCache>
            </c:strRef>
          </c:tx>
          <c:spPr>
            <a:solidFill>
              <a:srgbClr val="5B6B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B05-48F5-BE2C-E1BAB59B1F8D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05-48F5-BE2C-E1BAB59B1F8D}"/>
              </c:ext>
            </c:extLst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05-48F5-BE2C-E1BAB59B1F8D}"/>
              </c:ext>
            </c:extLst>
          </c:dPt>
          <c:dPt>
            <c:idx val="3"/>
            <c:invertIfNegative val="0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05-48F5-BE2C-E1BAB59B1F8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  <c:pt idx="3">
                  <c:v>Cluster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180</c:v>
                </c:pt>
                <c:pt idx="2">
                  <c:v>520</c:v>
                </c:pt>
                <c:pt idx="3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05-48F5-BE2C-E1BAB59B1F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DF1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B6B75"/>
              </a:solidFill>
              <a:ln w="9525" cap="flat">
                <a:solidFill>
                  <a:srgbClr val="5B6B75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-2.2000000000000002</c:v>
                </c:pt>
                <c:pt idx="1">
                  <c:v>-1.8</c:v>
                </c:pt>
                <c:pt idx="2">
                  <c:v>-1.5</c:v>
                </c:pt>
                <c:pt idx="3">
                  <c:v>-2.6</c:v>
                </c:pt>
                <c:pt idx="4">
                  <c:v>-2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1.6</c:v>
                </c:pt>
                <c:pt idx="2">
                  <c:v>0.9</c:v>
                </c:pt>
                <c:pt idx="3">
                  <c:v>1.9</c:v>
                </c:pt>
                <c:pt idx="4">
                  <c:v>1.4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0B-4FCF-8917-B56EB2927E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-2.2000000000000002</c:v>
                </c:pt>
                <c:pt idx="1">
                  <c:v>-1.8</c:v>
                </c:pt>
                <c:pt idx="2">
                  <c:v>-1.5</c:v>
                </c:pt>
                <c:pt idx="3">
                  <c:v>-2.6</c:v>
                </c:pt>
                <c:pt idx="4">
                  <c:v>-2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2.6</c:v>
                </c:pt>
                <c:pt idx="1">
                  <c:v>3</c:v>
                </c:pt>
                <c:pt idx="2">
                  <c:v>2.2000000000000002</c:v>
                </c:pt>
                <c:pt idx="3">
                  <c:v>2.9</c:v>
                </c:pt>
                <c:pt idx="4">
                  <c:v>3.3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30B-4FCF-8917-B56EB2927E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3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-2.2000000000000002</c:v>
                </c:pt>
                <c:pt idx="1">
                  <c:v>-1.8</c:v>
                </c:pt>
                <c:pt idx="2">
                  <c:v>-1.5</c:v>
                </c:pt>
                <c:pt idx="3">
                  <c:v>-2.6</c:v>
                </c:pt>
                <c:pt idx="4">
                  <c:v>-2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-1.8</c:v>
                </c:pt>
                <c:pt idx="1">
                  <c:v>-1.2</c:v>
                </c:pt>
                <c:pt idx="2">
                  <c:v>-2.2000000000000002</c:v>
                </c:pt>
                <c:pt idx="3">
                  <c:v>-1.6</c:v>
                </c:pt>
                <c:pt idx="4">
                  <c:v>-2.6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30B-4FCF-8917-B56EB2927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D8DEE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114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Live Sellers in Thailand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 Using K-Means Clustering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201168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SAFROON NISHA M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5074920"/>
            <a:ext cx="85953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7492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47088" y="5074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5074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0" y="5074920"/>
            <a:ext cx="85953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507492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98848" y="50749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50749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25312" y="5074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50749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50024" y="5074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0024" y="5074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361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536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use Facebook to promote products and engage customers.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posts receive different levels of engagement.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user interaction helps improve marketing strategies.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536192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1536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Facebook engagement data.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effect of upload time.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relationships among reactions, comments, and shares.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posts based on engagement.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7,050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20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(POST-PREPROCESSING)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CSV 
</a:t>
            </a: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in Thailand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1933956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9164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Type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1691640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0024" y="1933956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169164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64040" y="1691640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10344" y="1933956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169164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2542032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9704" y="2784348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54203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2542032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50024" y="2784348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254203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64040" y="2542032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10344" y="2784348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254203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43400" y="3392424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9704" y="3634740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392424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03720" y="3392424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0024" y="3634740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5" name="Text 33"/>
          <p:cNvSpPr/>
          <p:nvPr/>
        </p:nvSpPr>
        <p:spPr>
          <a:xfrm>
            <a:off x="7360920" y="3392424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464040" y="3392424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10344" y="3634740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8" name="Text 36"/>
          <p:cNvSpPr/>
          <p:nvPr/>
        </p:nvSpPr>
        <p:spPr>
          <a:xfrm>
            <a:off x="9921240" y="3392424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Hahas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343400" y="4242816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9704" y="4485132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4242816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03720" y="4242816"/>
            <a:ext cx="2395728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50024" y="4485132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4" name="Text 42"/>
          <p:cNvSpPr/>
          <p:nvPr/>
        </p:nvSpPr>
        <p:spPr>
          <a:xfrm>
            <a:off x="7360920" y="4242816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2062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9FD8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Cleaning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E873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Dataset — imported 7,050 posts from CSV using pandas.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916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— reviewed null counts with a heatmap.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36941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Removed Empty Columns — dropped 4 unused placeholder columns.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44714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Checked &amp; Removed Duplicates — dropped duplicate post records.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0760" y="1783080"/>
            <a:ext cx="0" cy="44805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E873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219456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12280" y="21396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Timestamps — parsed status_published into datetime.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297180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12280" y="29169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Time Features — derived Hour, Day, Month, and Weekday.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374904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12280" y="36941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Clean Data — previewed structure before analysis.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452628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12280" y="4471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Confirmed 13 Final Features — ready for exploration and modeling.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PageNum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Patterns in the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2258568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2825496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3392424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3959352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00200" y="13990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13432" y="13990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26664" y="13990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39896" y="13990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53128" y="13990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1691640"/>
            <a:ext cx="676656" cy="530352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1691640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13432" y="1691640"/>
            <a:ext cx="676656" cy="530352"/>
          </a:xfrm>
          <a:prstGeom prst="rect">
            <a:avLst/>
          </a:prstGeom>
          <a:solidFill>
            <a:srgbClr val="5D93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1691640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26664" y="1691640"/>
            <a:ext cx="676656" cy="530352"/>
          </a:xfrm>
          <a:prstGeom prst="rect">
            <a:avLst/>
          </a:prstGeom>
          <a:solidFill>
            <a:srgbClr val="6699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1691640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39896" y="1691640"/>
            <a:ext cx="676656" cy="530352"/>
          </a:xfrm>
          <a:prstGeom prst="rect">
            <a:avLst/>
          </a:prstGeom>
          <a:solidFill>
            <a:srgbClr val="0D5F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691640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53128" y="1691640"/>
            <a:ext cx="676656" cy="530352"/>
          </a:xfrm>
          <a:prstGeom prst="rect">
            <a:avLst/>
          </a:prstGeom>
          <a:solidFill>
            <a:srgbClr val="2D74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1691640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00200" y="2258568"/>
            <a:ext cx="676656" cy="530352"/>
          </a:xfrm>
          <a:prstGeom prst="rect">
            <a:avLst/>
          </a:prstGeom>
          <a:solidFill>
            <a:srgbClr val="5D93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2258568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13432" y="2258568"/>
            <a:ext cx="676656" cy="530352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2258568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26664" y="2258568"/>
            <a:ext cx="676656" cy="530352"/>
          </a:xfrm>
          <a:prstGeom prst="rect">
            <a:avLst/>
          </a:prstGeom>
          <a:solidFill>
            <a:srgbClr val="4886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6664" y="2258568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39896" y="2258568"/>
            <a:ext cx="676656" cy="530352"/>
          </a:xfrm>
          <a:prstGeom prst="rect">
            <a:avLst/>
          </a:prstGeom>
          <a:solidFill>
            <a:srgbClr val="6D9E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9896" y="2258568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53128" y="2258568"/>
            <a:ext cx="676656" cy="530352"/>
          </a:xfrm>
          <a:prstGeom prst="rect">
            <a:avLst/>
          </a:prstGeom>
          <a:solidFill>
            <a:srgbClr val="7BA7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2258568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00200" y="2825496"/>
            <a:ext cx="676656" cy="530352"/>
          </a:xfrm>
          <a:prstGeom prst="rect">
            <a:avLst/>
          </a:prstGeom>
          <a:solidFill>
            <a:srgbClr val="6699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2825496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13432" y="2825496"/>
            <a:ext cx="676656" cy="530352"/>
          </a:xfrm>
          <a:prstGeom prst="rect">
            <a:avLst/>
          </a:prstGeom>
          <a:solidFill>
            <a:srgbClr val="4886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3432" y="2825496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026664" y="2825496"/>
            <a:ext cx="676656" cy="530352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26664" y="2825496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739896" y="2825496"/>
            <a:ext cx="676656" cy="530352"/>
          </a:xfrm>
          <a:prstGeom prst="rect">
            <a:avLst/>
          </a:prstGeom>
          <a:solidFill>
            <a:srgbClr val="74A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39896" y="2825496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53128" y="2825496"/>
            <a:ext cx="676656" cy="530352"/>
          </a:xfrm>
          <a:prstGeom prst="rect">
            <a:avLst/>
          </a:prstGeom>
          <a:solidFill>
            <a:srgbClr val="86AE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53128" y="2825496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00200" y="3392424"/>
            <a:ext cx="676656" cy="530352"/>
          </a:xfrm>
          <a:prstGeom prst="rect">
            <a:avLst/>
          </a:prstGeom>
          <a:solidFill>
            <a:srgbClr val="0D5F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00200" y="3392424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13432" y="3392424"/>
            <a:ext cx="676656" cy="530352"/>
          </a:xfrm>
          <a:prstGeom prst="rect">
            <a:avLst/>
          </a:prstGeom>
          <a:solidFill>
            <a:srgbClr val="6D9E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13432" y="3392424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026664" y="3392424"/>
            <a:ext cx="676656" cy="530352"/>
          </a:xfrm>
          <a:prstGeom prst="rect">
            <a:avLst/>
          </a:prstGeom>
          <a:solidFill>
            <a:srgbClr val="74A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26664" y="3392424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739896" y="3392424"/>
            <a:ext cx="676656" cy="530352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9896" y="3392424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453128" y="3392424"/>
            <a:ext cx="676656" cy="530352"/>
          </a:xfrm>
          <a:prstGeom prst="rect">
            <a:avLst/>
          </a:prstGeom>
          <a:solidFill>
            <a:srgbClr val="32769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53128" y="3392424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600200" y="3959352"/>
            <a:ext cx="676656" cy="530352"/>
          </a:xfrm>
          <a:prstGeom prst="rect">
            <a:avLst/>
          </a:prstGeom>
          <a:solidFill>
            <a:srgbClr val="2D74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00200" y="3959352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313432" y="3959352"/>
            <a:ext cx="676656" cy="530352"/>
          </a:xfrm>
          <a:prstGeom prst="rect">
            <a:avLst/>
          </a:prstGeom>
          <a:solidFill>
            <a:srgbClr val="7BA7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13432" y="3959352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026664" y="3959352"/>
            <a:ext cx="676656" cy="530352"/>
          </a:xfrm>
          <a:prstGeom prst="rect">
            <a:avLst/>
          </a:prstGeom>
          <a:solidFill>
            <a:srgbClr val="86AE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26664" y="3959352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739896" y="3959352"/>
            <a:ext cx="676656" cy="530352"/>
          </a:xfrm>
          <a:prstGeom prst="rect">
            <a:avLst/>
          </a:prstGeom>
          <a:solidFill>
            <a:srgbClr val="32769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39896" y="3959352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453128" y="3959352"/>
            <a:ext cx="676656" cy="530352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53128" y="3959352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492240" y="1234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TIME VS. AVERAGE REACTIONS</a:t>
            </a:r>
            <a:endParaRPr lang="en-US" sz="1200" dirty="0"/>
          </a:p>
        </p:txBody>
      </p:sp>
      <p:graphicFrame>
        <p:nvGraphicFramePr>
          <p:cNvPr id="66" name="Chart 0"/>
          <p:cNvGraphicFramePr/>
          <p:nvPr/>
        </p:nvGraphicFramePr>
        <p:xfrm>
          <a:off x="6400800" y="1554480"/>
          <a:ext cx="5349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Shape 64"/>
          <p:cNvSpPr/>
          <p:nvPr/>
        </p:nvSpPr>
        <p:spPr>
          <a:xfrm>
            <a:off x="457200" y="4892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68" name="Shape 65"/>
          <p:cNvSpPr/>
          <p:nvPr/>
        </p:nvSpPr>
        <p:spPr>
          <a:xfrm>
            <a:off x="685800" y="51023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9" name="Text 66"/>
          <p:cNvSpPr/>
          <p:nvPr/>
        </p:nvSpPr>
        <p:spPr>
          <a:xfrm>
            <a:off x="68580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069848" y="5029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time strongly influences audience engagement, peaking in the evening.</a:t>
            </a:r>
            <a:endParaRPr lang="en-US" sz="1150" dirty="0"/>
          </a:p>
        </p:txBody>
      </p:sp>
      <p:sp>
        <p:nvSpPr>
          <p:cNvPr id="71" name="Shape 68"/>
          <p:cNvSpPr/>
          <p:nvPr/>
        </p:nvSpPr>
        <p:spPr>
          <a:xfrm>
            <a:off x="4325112" y="51023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2" name="Text 69"/>
          <p:cNvSpPr/>
          <p:nvPr/>
        </p:nvSpPr>
        <p:spPr>
          <a:xfrm>
            <a:off x="4325112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4709160" y="5029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post types receive markedly different engagement levels.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>
            <a:off x="7964424" y="51023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5" name="Text 72"/>
          <p:cNvSpPr/>
          <p:nvPr/>
        </p:nvSpPr>
        <p:spPr>
          <a:xfrm>
            <a:off x="7964424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8348472" y="5029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Reactions, comments, and shares are positively correlated with one another.</a:t>
            </a:r>
            <a:endParaRPr lang="en-US" sz="1150" dirty="0"/>
          </a:p>
        </p:txBody>
      </p:sp>
      <p:sp>
        <p:nvSpPr>
          <p:cNvPr id="77" name="Text 7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2062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9FD8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Preparing Data for Modeling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E873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STEPS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Post Types — counted and plotted status type distribution.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916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Explored Distributions — histograms for reactions, comments, shares.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36941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Detected Outliers — boxplots flagged extreme values per metric.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44714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Checked Correlations — measured links between engagement metrics.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0760" y="1783080"/>
            <a:ext cx="0" cy="44805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E873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PREPARATION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219456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12280" y="21396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 — combined status_type with 9 engagement metrics.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297180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12280" y="29169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 Data — one-hot encoded status_type.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374904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12280" y="36941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Scaled the Features — standardized values with StandardScaler.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452628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12280" y="4471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Silhouette Score — confirmed cluster quality at 0.574.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PageNum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K-MEANS CLUSTERING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9202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24231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423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9260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926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290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42900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4290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31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39319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931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8463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number of clusters, identified using the Elbow Method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709160"/>
            <a:ext cx="1691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400800" y="1188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3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355080" y="1600200"/>
          <a:ext cx="539496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8641080" y="4617720"/>
            <a:ext cx="219456" cy="219456"/>
          </a:xfrm>
          <a:prstGeom prst="ellipse">
            <a:avLst/>
          </a:prstGeom>
          <a:solidFill>
            <a:srgbClr val="E87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1812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at k = 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5B6B7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Engagement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minimal reactions, comments, and shares.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444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Engagement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engagement with higher discussion activity.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44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Reactions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reactions and likes among all clusters.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2801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444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Viral Posts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2651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comments and shares — content that spreads.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REACTIONS BY CLUSTER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65760" y="4206240"/>
          <a:ext cx="5577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PROJECTION OF CLUSTERS</a:t>
            </a:r>
            <a:endParaRPr lang="en-US" sz="12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6172200" y="4206240"/>
          <a:ext cx="5577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58952"/>
          </a:xfrm>
          <a:prstGeom prst="roundRect">
            <a:avLst>
              <a:gd name="adj" fmla="val 8434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7675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767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time affects audience engagement.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11247120" cy="758952"/>
          </a:xfrm>
          <a:prstGeom prst="roundRect">
            <a:avLst>
              <a:gd name="adj" fmla="val 8434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3728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28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2267712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photo posts perform better than other formats.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11247120" cy="758952"/>
          </a:xfrm>
          <a:prstGeom prst="roundRect">
            <a:avLst>
              <a:gd name="adj" fmla="val 8434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26898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689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163824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reactions usually lead to more comments and shares.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11247120" cy="758952"/>
          </a:xfrm>
          <a:prstGeom prst="roundRect">
            <a:avLst>
              <a:gd name="adj" fmla="val 8434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165092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65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059936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contains the most successful posts overall.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956048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F4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51389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138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95604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can improve engagement by posting high-quality content at optimal times.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2062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analyzed Facebook engagement data.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916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EDA and K-Means clustering.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6941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engagement patterns and content groups.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4714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actionable business insights.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80760" y="1783080"/>
            <a:ext cx="0" cy="44805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19456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21396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engagement using Machine Learning.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297180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29169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sentiment analysis.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374904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36941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0" y="4526280"/>
            <a:ext cx="292608" cy="29260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4471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recommendation system for the best posting time.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678</Words>
  <Application>Microsoft Office PowerPoint</Application>
  <PresentationFormat>Widescreen</PresentationFormat>
  <Paragraphs>212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Safroon Nisha M</cp:lastModifiedBy>
  <cp:revision>3</cp:revision>
  <dcterms:created xsi:type="dcterms:W3CDTF">2026-07-20T17:20:13Z</dcterms:created>
  <dcterms:modified xsi:type="dcterms:W3CDTF">2026-07-26T17:26:13Z</dcterms:modified>
</cp:coreProperties>
</file>